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AF8"/>
    <a:srgbClr val="0A122A"/>
    <a:srgbClr val="FFFFFF"/>
    <a:srgbClr val="E7DE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4AC937-E72C-46FA-B6A2-3A7DE3043231}" type="datetimeFigureOut">
              <a:rPr lang="es-419" smtClean="0"/>
              <a:t>16/11/2024</a:t>
            </a:fld>
            <a:endParaRPr lang="es-419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419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714A4E-2463-47D4-BB05-314F05B9803D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736088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714A4E-2463-47D4-BB05-314F05B9803D}" type="slidenum">
              <a:rPr lang="es-419" smtClean="0"/>
              <a:t>1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817747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714A4E-2463-47D4-BB05-314F05B9803D}" type="slidenum">
              <a:rPr lang="es-419" smtClean="0"/>
              <a:t>4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604719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392215-0245-1130-302E-F37472F74E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2C528D4-C220-E4CD-1897-802F9926B1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7ABB6F-28A6-B1FD-EA0F-F022FE32A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4475-5285-4BEB-9BD6-771F56819649}" type="datetimeFigureOut">
              <a:rPr lang="es-419" smtClean="0"/>
              <a:t>16/11/2024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485173-2FA7-31F0-21CF-172762D51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EEF408-64A2-0574-9C6C-20E5BF28E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5EFA1-6F74-46A0-8C64-3D41ACD45FB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670465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66C64F-2ECD-1D4E-630D-4C3B3CF94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81C2B4-3C36-C438-59D1-FB793A9F2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84F67A-2F45-EAD2-ED3E-1FDA71876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4475-5285-4BEB-9BD6-771F56819649}" type="datetimeFigureOut">
              <a:rPr lang="es-419" smtClean="0"/>
              <a:t>16/11/2024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49F607-4D82-CC8F-7FE8-F4F8E953B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02A91F-8C28-ECB3-127E-CB9B3F366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5EFA1-6F74-46A0-8C64-3D41ACD45FB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842693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4F8290-3967-42A9-D120-9D3F0AC8F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79504A-83CB-FF2B-64F8-3BA4F78D3D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D1E8D7-7A8C-FE90-3B79-41C94DC89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4475-5285-4BEB-9BD6-771F56819649}" type="datetimeFigureOut">
              <a:rPr lang="es-419" smtClean="0"/>
              <a:t>16/11/2024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3DCCB9-145A-BE41-AC60-3D99A919E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D24910-C784-B0BC-D474-A31EA9A59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5EFA1-6F74-46A0-8C64-3D41ACD45FB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373821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21442E-BFEE-477D-E77F-5756663EF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18681A-4D79-0252-2BDA-372E3DAE89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7C94979-40EC-494A-E71A-BC99E33330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97DC06E-B633-A1F7-3081-655BADA7D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4475-5285-4BEB-9BD6-771F56819649}" type="datetimeFigureOut">
              <a:rPr lang="es-419" smtClean="0"/>
              <a:t>16/11/2024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BC0D050-6F11-E972-D3F8-F511C2388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6A1AE7E-1165-98D1-9E9D-696461587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5EFA1-6F74-46A0-8C64-3D41ACD45FB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315629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987AC9-E618-32C2-63D0-B6FC197A7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C9CB693-6994-39CA-7C88-C4EA5E4DE1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650367A-6220-D031-3DDB-6878D4002E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ACB9A88-5D96-3C55-2462-10930DA08C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A760B3C-133E-E87A-CE58-EEE528E065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87BE210-AEAF-EF84-4385-D0E1E4720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4475-5285-4BEB-9BD6-771F56819649}" type="datetimeFigureOut">
              <a:rPr lang="es-419" smtClean="0"/>
              <a:t>16/11/2024</a:t>
            </a:fld>
            <a:endParaRPr lang="es-419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26C2199-B984-BC19-30D6-1E1105314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F65E264-3F97-32C8-1F76-BFCE10E15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5EFA1-6F74-46A0-8C64-3D41ACD45FB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953983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65C49D-EF58-88AD-1672-2F5E712C9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1300A0D-D22E-930B-46BD-3F22A3EE4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4475-5285-4BEB-9BD6-771F56819649}" type="datetimeFigureOut">
              <a:rPr lang="es-419" smtClean="0"/>
              <a:t>16/11/2024</a:t>
            </a:fld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81E2F5A-F095-14A9-6095-CF2C255E5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3E935FC-8654-9EAD-1FEF-6B5131924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5EFA1-6F74-46A0-8C64-3D41ACD45FB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117037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8C4F208-9EA0-4F36-526D-14006BB9D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4475-5285-4BEB-9BD6-771F56819649}" type="datetimeFigureOut">
              <a:rPr lang="es-419" smtClean="0"/>
              <a:t>16/11/2024</a:t>
            </a:fld>
            <a:endParaRPr lang="es-419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322EFF4-40A4-43B1-6891-BD4D0BE48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C3B4215-0802-5F04-A237-DC3EAC6A2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5EFA1-6F74-46A0-8C64-3D41ACD45FB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778980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3558BE-FD7B-6646-A2FF-4AB4582C8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450CD4-3090-880D-F871-397F99024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1E85CDA-3A4F-8FE8-CB53-D54C1A99C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1A56633-B8E8-A08B-AE02-9918A826B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4475-5285-4BEB-9BD6-771F56819649}" type="datetimeFigureOut">
              <a:rPr lang="es-419" smtClean="0"/>
              <a:t>16/11/2024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E8AEFA0-1A88-7C92-7A92-7CCD1D28F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6D53117-22E4-E19E-5012-F4BBBE57E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5EFA1-6F74-46A0-8C64-3D41ACD45FB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638325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8EDF57-7824-EEBE-6005-CA22BC598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1054E93-3363-09E8-7C11-D1E61F92F4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ACFAC1B-8F9A-42AE-35BF-428186B76E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4D4ABF-7B70-EF78-F6ED-57A851C7A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4475-5285-4BEB-9BD6-771F56819649}" type="datetimeFigureOut">
              <a:rPr lang="es-419" smtClean="0"/>
              <a:t>16/11/2024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58D31AD-8F79-F6B1-41B5-D423EBA4F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9F19525-AE84-BC5D-99C9-C2DA79E49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5EFA1-6F74-46A0-8C64-3D41ACD45FB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209169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AC9223-F16A-01CE-5097-C2018D552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A67DAA1-DE4B-B37B-BF86-32EFC8F00D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8709AD-F029-DBDF-D367-6423A6E7F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4475-5285-4BEB-9BD6-771F56819649}" type="datetimeFigureOut">
              <a:rPr lang="es-419" smtClean="0"/>
              <a:t>16/11/2024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2A9F54-95AD-2A7F-86F2-454EFC44C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7FE1DD-3D25-170F-EC23-7E56E7F18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5EFA1-6F74-46A0-8C64-3D41ACD45FB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35477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29808EA-16B9-CCF3-E8CE-EF6743E051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484A4C1-C4CC-02BE-8D28-3507ED3B98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B9C4B0A-C9AC-0432-8B3A-A2EC4D7E3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4475-5285-4BEB-9BD6-771F56819649}" type="datetimeFigureOut">
              <a:rPr lang="es-419" smtClean="0"/>
              <a:t>16/11/2024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B6F73A-C479-5401-BD8F-5C4B973D8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C7B207-C48C-ABF2-B922-59BA273F6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5EFA1-6F74-46A0-8C64-3D41ACD45FB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950753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26FBD99-9FAB-C3CA-32C6-D12BDAC90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7D283A1-3B0F-34C2-B375-BE3F8FC91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A3D1F8-7039-DF02-0300-E3A1A72FDF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744475-5285-4BEB-9BD6-771F56819649}" type="datetimeFigureOut">
              <a:rPr lang="es-419" smtClean="0"/>
              <a:t>16/11/2024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21BBA1-7F93-E525-71D5-0F6B265886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2C86061-9AB3-1E6C-2FF4-DB130B56B6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85EFA1-6F74-46A0-8C64-3D41ACD45FB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798916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chirou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Conector: angular 9">
            <a:extLst>
              <a:ext uri="{FF2B5EF4-FFF2-40B4-BE49-F238E27FC236}">
                <a16:creationId xmlns:a16="http://schemas.microsoft.com/office/drawing/2014/main" id="{71B19917-3EC8-4EB4-71E2-A16BA64A5606}"/>
              </a:ext>
            </a:extLst>
          </p:cNvPr>
          <p:cNvCxnSpPr/>
          <p:nvPr/>
        </p:nvCxnSpPr>
        <p:spPr>
          <a:xfrm rot="5400000" flipH="1" flipV="1">
            <a:off x="439993" y="5390536"/>
            <a:ext cx="1755058" cy="1179871"/>
          </a:xfrm>
          <a:prstGeom prst="bentConnector3">
            <a:avLst/>
          </a:prstGeom>
          <a:ln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: angular 10">
            <a:extLst>
              <a:ext uri="{FF2B5EF4-FFF2-40B4-BE49-F238E27FC236}">
                <a16:creationId xmlns:a16="http://schemas.microsoft.com/office/drawing/2014/main" id="{610C82C7-AE88-F481-1F80-C58DEEC17384}"/>
              </a:ext>
            </a:extLst>
          </p:cNvPr>
          <p:cNvCxnSpPr>
            <a:cxnSpLocks/>
          </p:cNvCxnSpPr>
          <p:nvPr/>
        </p:nvCxnSpPr>
        <p:spPr>
          <a:xfrm rot="16200000" flipV="1">
            <a:off x="9950247" y="5427407"/>
            <a:ext cx="1755058" cy="1106127"/>
          </a:xfrm>
          <a:prstGeom prst="bentConnector3">
            <a:avLst/>
          </a:prstGeom>
          <a:ln>
            <a:solidFill>
              <a:schemeClr val="bg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: angular 13">
            <a:extLst>
              <a:ext uri="{FF2B5EF4-FFF2-40B4-BE49-F238E27FC236}">
                <a16:creationId xmlns:a16="http://schemas.microsoft.com/office/drawing/2014/main" id="{0A1A6F89-71C5-B5E1-D37E-962F84766F06}"/>
              </a:ext>
            </a:extLst>
          </p:cNvPr>
          <p:cNvCxnSpPr/>
          <p:nvPr/>
        </p:nvCxnSpPr>
        <p:spPr>
          <a:xfrm rot="5400000">
            <a:off x="703006" y="24580"/>
            <a:ext cx="639097" cy="589936"/>
          </a:xfrm>
          <a:prstGeom prst="bentConnector3">
            <a:avLst/>
          </a:prstGeom>
          <a:ln>
            <a:solidFill>
              <a:schemeClr val="bg1"/>
            </a:solidFill>
          </a:ln>
          <a:effectLst>
            <a:glow rad="101600">
              <a:schemeClr val="accent6">
                <a:satMod val="175000"/>
                <a:alpha val="40000"/>
              </a:schemeClr>
            </a:glow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: angular 15">
            <a:extLst>
              <a:ext uri="{FF2B5EF4-FFF2-40B4-BE49-F238E27FC236}">
                <a16:creationId xmlns:a16="http://schemas.microsoft.com/office/drawing/2014/main" id="{697CFD14-6D16-8F98-D91A-5EC188B0FF7E}"/>
              </a:ext>
            </a:extLst>
          </p:cNvPr>
          <p:cNvCxnSpPr/>
          <p:nvPr/>
        </p:nvCxnSpPr>
        <p:spPr>
          <a:xfrm rot="16200000" flipH="1">
            <a:off x="10999840" y="41786"/>
            <a:ext cx="422787" cy="339214"/>
          </a:xfrm>
          <a:prstGeom prst="bentConnector3">
            <a:avLst/>
          </a:prstGeom>
          <a:ln>
            <a:solidFill>
              <a:schemeClr val="bg1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92776912-BA84-DD0C-7C92-96E8FF5AAEEC}"/>
              </a:ext>
            </a:extLst>
          </p:cNvPr>
          <p:cNvCxnSpPr/>
          <p:nvPr/>
        </p:nvCxnSpPr>
        <p:spPr>
          <a:xfrm>
            <a:off x="3067665" y="-1"/>
            <a:ext cx="0" cy="319549"/>
          </a:xfrm>
          <a:prstGeom prst="line">
            <a:avLst/>
          </a:prstGeom>
          <a:ln>
            <a:solidFill>
              <a:schemeClr val="bg1"/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931881C1-FFF9-B8DE-AB21-1ABD11D44565}"/>
              </a:ext>
            </a:extLst>
          </p:cNvPr>
          <p:cNvCxnSpPr/>
          <p:nvPr/>
        </p:nvCxnSpPr>
        <p:spPr>
          <a:xfrm>
            <a:off x="6489290" y="0"/>
            <a:ext cx="0" cy="422787"/>
          </a:xfrm>
          <a:prstGeom prst="line">
            <a:avLst/>
          </a:prstGeom>
          <a:ln>
            <a:solidFill>
              <a:schemeClr val="bg1"/>
            </a:solidFill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95A58B80-B32D-724B-4C8F-603767071A70}"/>
              </a:ext>
            </a:extLst>
          </p:cNvPr>
          <p:cNvCxnSpPr/>
          <p:nvPr/>
        </p:nvCxnSpPr>
        <p:spPr>
          <a:xfrm>
            <a:off x="3849328" y="6435213"/>
            <a:ext cx="0" cy="422787"/>
          </a:xfrm>
          <a:prstGeom prst="line">
            <a:avLst/>
          </a:prstGeom>
          <a:ln>
            <a:solidFill>
              <a:schemeClr val="bg1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DF2DB3C6-0B7D-B215-3B60-68D5ACDF6FB3}"/>
              </a:ext>
            </a:extLst>
          </p:cNvPr>
          <p:cNvCxnSpPr/>
          <p:nvPr/>
        </p:nvCxnSpPr>
        <p:spPr>
          <a:xfrm>
            <a:off x="9050594" y="6435212"/>
            <a:ext cx="0" cy="422787"/>
          </a:xfrm>
          <a:prstGeom prst="line">
            <a:avLst/>
          </a:prstGeom>
          <a:ln>
            <a:solidFill>
              <a:schemeClr val="bg1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3DC520AF-F33B-B7C2-41E6-3E9AE39E0A07}"/>
              </a:ext>
            </a:extLst>
          </p:cNvPr>
          <p:cNvCxnSpPr/>
          <p:nvPr/>
        </p:nvCxnSpPr>
        <p:spPr>
          <a:xfrm>
            <a:off x="6582696" y="6435211"/>
            <a:ext cx="0" cy="422787"/>
          </a:xfrm>
          <a:prstGeom prst="line">
            <a:avLst/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B3D86F54-F110-414C-54EC-C0A1A3DC6586}"/>
              </a:ext>
            </a:extLst>
          </p:cNvPr>
          <p:cNvCxnSpPr/>
          <p:nvPr/>
        </p:nvCxnSpPr>
        <p:spPr>
          <a:xfrm>
            <a:off x="0" y="3165987"/>
            <a:ext cx="81115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EC072146-2E89-8779-BDC5-39DF9C4B7D02}"/>
              </a:ext>
            </a:extLst>
          </p:cNvPr>
          <p:cNvCxnSpPr/>
          <p:nvPr/>
        </p:nvCxnSpPr>
        <p:spPr>
          <a:xfrm flipH="1">
            <a:off x="11464414" y="3271684"/>
            <a:ext cx="72758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: angular 28">
            <a:extLst>
              <a:ext uri="{FF2B5EF4-FFF2-40B4-BE49-F238E27FC236}">
                <a16:creationId xmlns:a16="http://schemas.microsoft.com/office/drawing/2014/main" id="{6078F099-0C50-4BD0-A8D2-21BF940C8E07}"/>
              </a:ext>
            </a:extLst>
          </p:cNvPr>
          <p:cNvCxnSpPr>
            <a:cxnSpLocks/>
          </p:cNvCxnSpPr>
          <p:nvPr/>
        </p:nvCxnSpPr>
        <p:spPr>
          <a:xfrm rot="16200000" flipH="1">
            <a:off x="7664246" y="358877"/>
            <a:ext cx="1229031" cy="511276"/>
          </a:xfrm>
          <a:prstGeom prst="bentConnector3">
            <a:avLst/>
          </a:prstGeom>
          <a:ln>
            <a:solidFill>
              <a:schemeClr val="bg1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ángulo 30">
            <a:extLst>
              <a:ext uri="{FF2B5EF4-FFF2-40B4-BE49-F238E27FC236}">
                <a16:creationId xmlns:a16="http://schemas.microsoft.com/office/drawing/2014/main" id="{C301F73D-49CF-3AB8-64FE-3AAB656C527B}"/>
              </a:ext>
            </a:extLst>
          </p:cNvPr>
          <p:cNvSpPr/>
          <p:nvPr/>
        </p:nvSpPr>
        <p:spPr>
          <a:xfrm>
            <a:off x="1263730" y="2704320"/>
            <a:ext cx="966457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Procedimientos </a:t>
            </a:r>
            <a:r>
              <a:rPr lang="es-ES" sz="54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Almacenados</a:t>
            </a:r>
            <a:endParaRPr lang="es-ES" sz="54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6F49AC55-C50E-BE04-D1AF-10F953F78859}"/>
              </a:ext>
            </a:extLst>
          </p:cNvPr>
          <p:cNvSpPr/>
          <p:nvPr/>
        </p:nvSpPr>
        <p:spPr>
          <a:xfrm>
            <a:off x="3192990" y="3436374"/>
            <a:ext cx="580602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Kevin García.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67F53524-D8E7-96CC-EB73-E922A826C405}"/>
              </a:ext>
            </a:extLst>
          </p:cNvPr>
          <p:cNvSpPr/>
          <p:nvPr/>
        </p:nvSpPr>
        <p:spPr>
          <a:xfrm>
            <a:off x="589934" y="776744"/>
            <a:ext cx="275303" cy="23596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66D6B3A9-BE24-8E72-DE2B-96CA14EBAF5A}"/>
              </a:ext>
            </a:extLst>
          </p:cNvPr>
          <p:cNvSpPr/>
          <p:nvPr/>
        </p:nvSpPr>
        <p:spPr>
          <a:xfrm>
            <a:off x="8431161" y="1346774"/>
            <a:ext cx="206478" cy="17999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333C3C23-8C06-B2CB-FD48-FC45BA2F521C}"/>
              </a:ext>
            </a:extLst>
          </p:cNvPr>
          <p:cNvSpPr/>
          <p:nvPr/>
        </p:nvSpPr>
        <p:spPr>
          <a:xfrm>
            <a:off x="11315700" y="471949"/>
            <a:ext cx="130279" cy="14256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2AA1BC8C-C8B7-CDBE-73B2-9ECAEBA6241B}"/>
              </a:ext>
            </a:extLst>
          </p:cNvPr>
          <p:cNvSpPr/>
          <p:nvPr/>
        </p:nvSpPr>
        <p:spPr>
          <a:xfrm>
            <a:off x="10209572" y="4817582"/>
            <a:ext cx="130279" cy="14256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9ECE81E9-616A-169B-B4DC-A105F4FDE604}"/>
              </a:ext>
            </a:extLst>
          </p:cNvPr>
          <p:cNvSpPr/>
          <p:nvPr/>
        </p:nvSpPr>
        <p:spPr>
          <a:xfrm>
            <a:off x="3784188" y="6110749"/>
            <a:ext cx="130279" cy="14256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ACFF1EAD-CD3D-63A9-A693-46FE012F403D}"/>
              </a:ext>
            </a:extLst>
          </p:cNvPr>
          <p:cNvSpPr/>
          <p:nvPr/>
        </p:nvSpPr>
        <p:spPr>
          <a:xfrm>
            <a:off x="2917688" y="521113"/>
            <a:ext cx="275302" cy="23596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44F388B0-518F-B837-8C1F-CFD2F8AED354}"/>
              </a:ext>
            </a:extLst>
          </p:cNvPr>
          <p:cNvSpPr/>
          <p:nvPr/>
        </p:nvSpPr>
        <p:spPr>
          <a:xfrm>
            <a:off x="1776564" y="4758027"/>
            <a:ext cx="261787" cy="28055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480BD0D0-028B-B0D6-7022-8084E509011C}"/>
              </a:ext>
            </a:extLst>
          </p:cNvPr>
          <p:cNvSpPr/>
          <p:nvPr/>
        </p:nvSpPr>
        <p:spPr>
          <a:xfrm>
            <a:off x="6489290" y="5456906"/>
            <a:ext cx="275302" cy="23596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9FBA8AFC-AC17-6186-A573-F588C9E8FE6A}"/>
              </a:ext>
            </a:extLst>
          </p:cNvPr>
          <p:cNvSpPr/>
          <p:nvPr/>
        </p:nvSpPr>
        <p:spPr>
          <a:xfrm>
            <a:off x="2711210" y="2049778"/>
            <a:ext cx="206478" cy="17999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E2BED302-9492-D1AD-8DDF-D120C4B20D42}"/>
              </a:ext>
            </a:extLst>
          </p:cNvPr>
          <p:cNvSpPr/>
          <p:nvPr/>
        </p:nvSpPr>
        <p:spPr>
          <a:xfrm>
            <a:off x="6424150" y="651390"/>
            <a:ext cx="130279" cy="14256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688633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03BD58-FD06-E657-7800-DCF533F5E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279DB3A9-A532-BE64-2716-BD488AFA10E9}"/>
              </a:ext>
            </a:extLst>
          </p:cNvPr>
          <p:cNvSpPr/>
          <p:nvPr/>
        </p:nvSpPr>
        <p:spPr>
          <a:xfrm>
            <a:off x="5219700" y="0"/>
            <a:ext cx="69723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DEFDDCC-1B32-5A5B-2CA3-4B4762C90152}"/>
              </a:ext>
            </a:extLst>
          </p:cNvPr>
          <p:cNvSpPr/>
          <p:nvPr/>
        </p:nvSpPr>
        <p:spPr>
          <a:xfrm>
            <a:off x="5429250" y="2303079"/>
            <a:ext cx="6762750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MX" sz="2000" dirty="0">
                <a:solidFill>
                  <a:srgbClr val="FBFAF8"/>
                </a:solidFill>
              </a:rPr>
              <a:t>Los </a:t>
            </a:r>
            <a:r>
              <a:rPr lang="es-MX" sz="2000" b="1" dirty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procedimientos almacenados </a:t>
            </a:r>
            <a:r>
              <a:rPr lang="es-MX" sz="2000" dirty="0">
                <a:solidFill>
                  <a:srgbClr val="FBFAF8"/>
                </a:solidFill>
              </a:rPr>
              <a:t>en MySQL son </a:t>
            </a:r>
            <a:r>
              <a:rPr lang="es-MX" sz="2000" b="1" dirty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conjuntos de instrucciones SQL</a:t>
            </a:r>
            <a:r>
              <a:rPr lang="es-MX" sz="2000" dirty="0">
                <a:solidFill>
                  <a:srgbClr val="FBFAF8"/>
                </a:solidFill>
              </a:rPr>
              <a:t> que se </a:t>
            </a:r>
            <a:r>
              <a:rPr lang="es-MX" sz="2000" b="1" dirty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guardan y ejecutan </a:t>
            </a:r>
            <a:r>
              <a:rPr lang="es-MX" sz="2000" dirty="0">
                <a:solidFill>
                  <a:srgbClr val="FBFAF8"/>
                </a:solidFill>
              </a:rPr>
              <a:t>directamente en el servidor de la base de datos.</a:t>
            </a:r>
            <a:endParaRPr lang="es-ES" sz="2000" b="0" cap="none" spc="0" dirty="0">
              <a:ln w="0"/>
              <a:solidFill>
                <a:srgbClr val="FBFAF8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8BC3686-ADCF-6B31-999B-7812DE119138}"/>
              </a:ext>
            </a:extLst>
          </p:cNvPr>
          <p:cNvSpPr/>
          <p:nvPr/>
        </p:nvSpPr>
        <p:spPr>
          <a:xfrm>
            <a:off x="5429250" y="3703845"/>
            <a:ext cx="6553201" cy="163121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MX" sz="2000" dirty="0">
                <a:solidFill>
                  <a:srgbClr val="FBFAF8"/>
                </a:solidFill>
              </a:rPr>
              <a:t>Estos procedimientos se crean para realizar </a:t>
            </a:r>
            <a:r>
              <a:rPr lang="es-MX" sz="2000" b="1" dirty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tareas repetitivas </a:t>
            </a:r>
            <a:r>
              <a:rPr lang="es-MX" sz="2000" dirty="0">
                <a:solidFill>
                  <a:srgbClr val="FBFAF8"/>
                </a:solidFill>
              </a:rPr>
              <a:t>y </a:t>
            </a:r>
            <a:r>
              <a:rPr lang="es-MX" sz="2000" b="1" dirty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complejas</a:t>
            </a:r>
            <a:r>
              <a:rPr lang="es-MX" sz="2000" dirty="0">
                <a:solidFill>
                  <a:srgbClr val="FBFAF8"/>
                </a:solidFill>
              </a:rPr>
              <a:t> de manera eficiente, ya que permiten ejecutar una secuencia de comandos SQL con </a:t>
            </a:r>
            <a:r>
              <a:rPr lang="es-MX" sz="2000" b="1" dirty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 solo llamado</a:t>
            </a:r>
            <a:r>
              <a:rPr lang="es-MX" sz="2000" dirty="0">
                <a:solidFill>
                  <a:srgbClr val="FBFAF8"/>
                </a:solidFill>
              </a:rPr>
              <a:t>, en lugar de escribir o enviar las consultas una a una.</a:t>
            </a:r>
            <a:endParaRPr lang="es-ES" sz="2000" b="0" cap="none" spc="0" dirty="0">
              <a:ln w="0"/>
              <a:solidFill>
                <a:srgbClr val="FBFAF8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0541FCE-D801-C3E4-9567-E0FB4B963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641" y="1624211"/>
            <a:ext cx="3812122" cy="3812122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526760F9-6601-6617-3515-2915C7CE3562}"/>
              </a:ext>
            </a:extLst>
          </p:cNvPr>
          <p:cNvSpPr/>
          <p:nvPr/>
        </p:nvSpPr>
        <p:spPr>
          <a:xfrm>
            <a:off x="5429250" y="423882"/>
            <a:ext cx="655320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36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¿Qué son los </a:t>
            </a:r>
            <a:r>
              <a:rPr lang="es-ES" sz="3600" b="1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procedimientos almacenados</a:t>
            </a:r>
            <a:r>
              <a:rPr lang="es-ES" sz="36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?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C0CF543-F1F6-AC36-D72A-404D8B8803F5}"/>
              </a:ext>
            </a:extLst>
          </p:cNvPr>
          <p:cNvSpPr/>
          <p:nvPr/>
        </p:nvSpPr>
        <p:spPr>
          <a:xfrm>
            <a:off x="5510641" y="1720173"/>
            <a:ext cx="2820773" cy="461665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400" b="1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Definición técnica:</a:t>
            </a:r>
            <a:endParaRPr lang="es-419" sz="2400" b="1" cap="none" spc="0" dirty="0">
              <a:ln w="0"/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181556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3741D1-5772-BBF5-06C5-DDCFA7EC7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4943549F-1EAB-0867-2A7C-2CE524073DD0}"/>
              </a:ext>
            </a:extLst>
          </p:cNvPr>
          <p:cNvSpPr/>
          <p:nvPr/>
        </p:nvSpPr>
        <p:spPr>
          <a:xfrm>
            <a:off x="477505" y="1295400"/>
            <a:ext cx="11381120" cy="51435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94F192C-1283-BB8A-109B-184D4E21B1B6}"/>
              </a:ext>
            </a:extLst>
          </p:cNvPr>
          <p:cNvSpPr/>
          <p:nvPr/>
        </p:nvSpPr>
        <p:spPr>
          <a:xfrm>
            <a:off x="477505" y="288805"/>
            <a:ext cx="10091623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48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Ejemplo: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CF1FAA87-EA76-971C-39B6-0C2B25623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688" y="2025127"/>
            <a:ext cx="1302912" cy="1302912"/>
          </a:xfrm>
          <a:prstGeom prst="rect">
            <a:avLst/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D15CD66C-519A-ECAA-D749-342AA176984C}"/>
              </a:ext>
            </a:extLst>
          </p:cNvPr>
          <p:cNvSpPr/>
          <p:nvPr/>
        </p:nvSpPr>
        <p:spPr>
          <a:xfrm>
            <a:off x="1357884" y="3343233"/>
            <a:ext cx="3859209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1600" b="1" dirty="0">
                <a:solidFill>
                  <a:srgbClr val="FBFAF8"/>
                </a:solidFill>
              </a:rPr>
              <a:t>Sumar ventas una por una.</a:t>
            </a:r>
          </a:p>
          <a:p>
            <a:endParaRPr lang="es-MX" sz="1600" b="1" dirty="0">
              <a:solidFill>
                <a:srgbClr val="FBFAF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1600" b="1" cap="none" spc="0" dirty="0">
                <a:ln w="0"/>
                <a:solidFill>
                  <a:srgbClr val="FBFAF8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Aplicar descuentos uno por uno.</a:t>
            </a:r>
          </a:p>
          <a:p>
            <a:endParaRPr lang="es-MX" sz="1600" b="1" cap="none" spc="0" dirty="0">
              <a:ln w="0"/>
              <a:solidFill>
                <a:srgbClr val="FBFAF8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1600" b="1" dirty="0">
                <a:ln w="0"/>
                <a:solidFill>
                  <a:srgbClr val="FBFAF8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Actualizar el inventario manualmente.</a:t>
            </a:r>
          </a:p>
          <a:p>
            <a:endParaRPr lang="es-MX" sz="1600" b="1" dirty="0">
              <a:ln w="0"/>
              <a:solidFill>
                <a:srgbClr val="FBFAF8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1600" b="1" cap="none" spc="0" dirty="0">
                <a:ln w="0"/>
                <a:solidFill>
                  <a:srgbClr val="FBFAF8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Guardar totales de ventas manualmente.</a:t>
            </a:r>
            <a:endParaRPr lang="es-ES" sz="1600" b="1" cap="none" spc="0" dirty="0">
              <a:ln w="0"/>
              <a:solidFill>
                <a:srgbClr val="FBFAF8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7969B9F-7FF7-19B2-0463-7F78E84D91A4}"/>
              </a:ext>
            </a:extLst>
          </p:cNvPr>
          <p:cNvSpPr/>
          <p:nvPr/>
        </p:nvSpPr>
        <p:spPr>
          <a:xfrm>
            <a:off x="2224452" y="1479543"/>
            <a:ext cx="1187383" cy="4770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5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Sin SP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38FBBEAB-178F-B9FE-EE68-A1DC605FD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0946" y="2025127"/>
            <a:ext cx="1302912" cy="1302912"/>
          </a:xfrm>
          <a:prstGeom prst="rect">
            <a:avLst/>
          </a:prstGeom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BA64A95F-9038-C2DA-2010-141E79842F39}"/>
              </a:ext>
            </a:extLst>
          </p:cNvPr>
          <p:cNvSpPr/>
          <p:nvPr/>
        </p:nvSpPr>
        <p:spPr>
          <a:xfrm>
            <a:off x="6974907" y="3328039"/>
            <a:ext cx="3859209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1600" b="1" dirty="0">
                <a:solidFill>
                  <a:srgbClr val="FBFAF8"/>
                </a:solidFill>
              </a:rPr>
              <a:t>Sumar ventas en un solo comando.</a:t>
            </a:r>
          </a:p>
          <a:p>
            <a:endParaRPr lang="es-MX" sz="1600" b="1" dirty="0">
              <a:solidFill>
                <a:srgbClr val="FBFAF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1600" b="1" cap="none" spc="0" dirty="0">
                <a:ln w="0"/>
                <a:solidFill>
                  <a:srgbClr val="FBFAF8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Aplicar descuentos automáticos.</a:t>
            </a:r>
          </a:p>
          <a:p>
            <a:endParaRPr lang="es-MX" sz="1600" b="1" cap="none" spc="0" dirty="0">
              <a:ln w="0"/>
              <a:solidFill>
                <a:srgbClr val="FBFAF8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1600" b="1" dirty="0">
                <a:ln w="0"/>
                <a:solidFill>
                  <a:srgbClr val="FBFAF8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Actualizar el inventario automáticamente.</a:t>
            </a:r>
          </a:p>
          <a:p>
            <a:endParaRPr lang="es-MX" sz="1600" b="1" dirty="0">
              <a:ln w="0"/>
              <a:solidFill>
                <a:srgbClr val="FBFAF8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1600" b="1" cap="none" spc="0" dirty="0">
                <a:ln w="0"/>
                <a:solidFill>
                  <a:srgbClr val="FBFAF8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Guardar totales de ventas automáticamente.</a:t>
            </a:r>
            <a:endParaRPr lang="es-ES" sz="1600" b="1" cap="none" spc="0" dirty="0">
              <a:ln w="0"/>
              <a:solidFill>
                <a:srgbClr val="FBFAF8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7F98544-9C78-0A7E-19B7-23FF892541F2}"/>
              </a:ext>
            </a:extLst>
          </p:cNvPr>
          <p:cNvSpPr/>
          <p:nvPr/>
        </p:nvSpPr>
        <p:spPr>
          <a:xfrm>
            <a:off x="8013181" y="1573720"/>
            <a:ext cx="1302912" cy="4770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5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 SP</a:t>
            </a:r>
          </a:p>
        </p:txBody>
      </p:sp>
    </p:spTree>
    <p:extLst>
      <p:ext uri="{BB962C8B-B14F-4D97-AF65-F5344CB8AC3E}">
        <p14:creationId xmlns:p14="http://schemas.microsoft.com/office/powerpoint/2010/main" val="191203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74535F-2F8D-EAC9-3A12-87455CCFA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E643AD8-8A14-3758-16C2-41986CA3A087}"/>
              </a:ext>
            </a:extLst>
          </p:cNvPr>
          <p:cNvSpPr/>
          <p:nvPr/>
        </p:nvSpPr>
        <p:spPr>
          <a:xfrm>
            <a:off x="11395587" y="216310"/>
            <a:ext cx="226142" cy="21630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301714F-F1C5-468D-E9DF-E380EA7CB519}"/>
              </a:ext>
            </a:extLst>
          </p:cNvPr>
          <p:cNvSpPr/>
          <p:nvPr/>
        </p:nvSpPr>
        <p:spPr>
          <a:xfrm>
            <a:off x="10984495" y="808700"/>
            <a:ext cx="226142" cy="2163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E810BD9-4918-9957-C5AC-F553928A9DF9}"/>
              </a:ext>
            </a:extLst>
          </p:cNvPr>
          <p:cNvSpPr/>
          <p:nvPr/>
        </p:nvSpPr>
        <p:spPr>
          <a:xfrm>
            <a:off x="11626004" y="592391"/>
            <a:ext cx="226142" cy="2163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B4F0A53-ADC1-1A57-FD5B-0B4DCC4D798C}"/>
              </a:ext>
            </a:extLst>
          </p:cNvPr>
          <p:cNvSpPr/>
          <p:nvPr/>
        </p:nvSpPr>
        <p:spPr>
          <a:xfrm>
            <a:off x="11852146" y="1334813"/>
            <a:ext cx="226142" cy="21630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E072A53-EFE7-D48D-AE1F-4BE9C17053D6}"/>
              </a:ext>
            </a:extLst>
          </p:cNvPr>
          <p:cNvSpPr/>
          <p:nvPr/>
        </p:nvSpPr>
        <p:spPr>
          <a:xfrm>
            <a:off x="113712" y="5840361"/>
            <a:ext cx="226142" cy="2163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8F8C5D5-CB83-6DE6-427D-977A4243AD68}"/>
              </a:ext>
            </a:extLst>
          </p:cNvPr>
          <p:cNvSpPr/>
          <p:nvPr/>
        </p:nvSpPr>
        <p:spPr>
          <a:xfrm>
            <a:off x="113712" y="6474542"/>
            <a:ext cx="226142" cy="2163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B422061-E014-2CCC-8355-FD4B9A2DF47D}"/>
              </a:ext>
            </a:extLst>
          </p:cNvPr>
          <p:cNvSpPr/>
          <p:nvPr/>
        </p:nvSpPr>
        <p:spPr>
          <a:xfrm>
            <a:off x="477505" y="6135328"/>
            <a:ext cx="226142" cy="21630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0" name="Freeform 8">
            <a:extLst>
              <a:ext uri="{FF2B5EF4-FFF2-40B4-BE49-F238E27FC236}">
                <a16:creationId xmlns:a16="http://schemas.microsoft.com/office/drawing/2014/main" id="{EA5806B0-DB35-C5F8-0E2A-F0B204C083F0}"/>
              </a:ext>
            </a:extLst>
          </p:cNvPr>
          <p:cNvSpPr/>
          <p:nvPr/>
        </p:nvSpPr>
        <p:spPr>
          <a:xfrm>
            <a:off x="4324167" y="5128507"/>
            <a:ext cx="510946" cy="538558"/>
          </a:xfrm>
          <a:custGeom>
            <a:avLst/>
            <a:gdLst/>
            <a:ahLst/>
            <a:cxnLst/>
            <a:rect l="l" t="t" r="r" b="b"/>
            <a:pathLst>
              <a:path w="895237" h="895237">
                <a:moveTo>
                  <a:pt x="0" y="0"/>
                </a:moveTo>
                <a:lnTo>
                  <a:pt x="895236" y="0"/>
                </a:lnTo>
                <a:lnTo>
                  <a:pt x="895236" y="895237"/>
                </a:lnTo>
                <a:lnTo>
                  <a:pt x="0" y="8952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8B12451-5973-D0CD-1EBE-7727762FEE38}"/>
              </a:ext>
            </a:extLst>
          </p:cNvPr>
          <p:cNvSpPr/>
          <p:nvPr/>
        </p:nvSpPr>
        <p:spPr>
          <a:xfrm>
            <a:off x="2256209" y="2474231"/>
            <a:ext cx="7679581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6000" b="0" cap="none" spc="0" dirty="0">
                <a:ln w="0"/>
                <a:solidFill>
                  <a:srgbClr val="FBFAF8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¡MUCHAS GRACIAS!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87CC6FE-C658-59A6-EA3C-574CD6606D8A}"/>
              </a:ext>
            </a:extLst>
          </p:cNvPr>
          <p:cNvSpPr/>
          <p:nvPr/>
        </p:nvSpPr>
        <p:spPr>
          <a:xfrm>
            <a:off x="4416097" y="4671561"/>
            <a:ext cx="324755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800" dirty="0">
                <a:ln w="0"/>
                <a:solidFill>
                  <a:srgbClr val="FBFAF8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¡Visita nuestro sitio!</a:t>
            </a:r>
            <a:endParaRPr lang="es-ES" sz="2800" b="0" cap="none" spc="0" dirty="0">
              <a:ln w="0"/>
              <a:solidFill>
                <a:srgbClr val="FBFAF8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BE24307-B427-E972-2EE9-85E230DE68E3}"/>
              </a:ext>
            </a:extLst>
          </p:cNvPr>
          <p:cNvSpPr/>
          <p:nvPr/>
        </p:nvSpPr>
        <p:spPr>
          <a:xfrm>
            <a:off x="4743183" y="4933171"/>
            <a:ext cx="2848857" cy="66761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>
              <a:lnSpc>
                <a:spcPts val="5302"/>
              </a:lnSpc>
            </a:pPr>
            <a:r>
              <a:rPr lang="en-US" sz="2400" u="sng" dirty="0">
                <a:solidFill>
                  <a:srgbClr val="FBFAF8"/>
                </a:solidFill>
                <a:latin typeface="Lato"/>
                <a:ea typeface="Lato"/>
                <a:cs typeface="Lato"/>
                <a:sym typeface="Lato"/>
                <a:hlinkClick r:id="rId4" tooltip="https://achirou.co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https://achirou.com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1B59C2E-CE8D-4386-DDEC-ACCF1C2C6CB3}"/>
              </a:ext>
            </a:extLst>
          </p:cNvPr>
          <p:cNvSpPr/>
          <p:nvPr/>
        </p:nvSpPr>
        <p:spPr>
          <a:xfrm>
            <a:off x="2796346" y="3324808"/>
            <a:ext cx="659930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0" cap="none" spc="0" dirty="0">
                <a:ln w="0"/>
                <a:solidFill>
                  <a:srgbClr val="FBFAF8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¡Nos vemos en la próxima clase!</a:t>
            </a:r>
          </a:p>
        </p:txBody>
      </p:sp>
    </p:spTree>
    <p:extLst>
      <p:ext uri="{BB962C8B-B14F-4D97-AF65-F5344CB8AC3E}">
        <p14:creationId xmlns:p14="http://schemas.microsoft.com/office/powerpoint/2010/main" val="1843201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AF1BB1B-755C-4869-A0C8-BBBFB84CED35}">
  <we:reference id="wa200007130" version="1.0.0.1" store="es-ES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Cardinalidad</Template>
  <TotalTime>104</TotalTime>
  <Words>155</Words>
  <Application>Microsoft Office PowerPoint</Application>
  <PresentationFormat>Panorámica</PresentationFormat>
  <Paragraphs>29</Paragraphs>
  <Slides>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Lato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lopez</dc:creator>
  <cp:lastModifiedBy>kevin lopez</cp:lastModifiedBy>
  <cp:revision>2</cp:revision>
  <dcterms:created xsi:type="dcterms:W3CDTF">2024-11-13T22:47:13Z</dcterms:created>
  <dcterms:modified xsi:type="dcterms:W3CDTF">2024-11-16T22:25:21Z</dcterms:modified>
</cp:coreProperties>
</file>