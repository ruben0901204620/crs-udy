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AF8"/>
    <a:srgbClr val="0A122A"/>
    <a:srgbClr val="FFFFFF"/>
    <a:srgbClr val="E7D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AC937-E72C-46FA-B6A2-3A7DE3043231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14A4E-2463-47D4-BB05-314F05B9803D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3608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14A4E-2463-47D4-BB05-314F05B9803D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17747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14A4E-2463-47D4-BB05-314F05B9803D}" type="slidenum">
              <a:rPr lang="es-419" smtClean="0"/>
              <a:t>5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0471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92215-0245-1130-302E-F37472F74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C528D4-C220-E4CD-1897-802F9926B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ABB6F-28A6-B1FD-EA0F-F022FE32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485173-2FA7-31F0-21CF-172762D5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EEF408-64A2-0574-9C6C-20E5BF28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7046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6C64F-2ECD-1D4E-630D-4C3B3CF9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81C2B4-3C36-C438-59D1-FB793A9F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84F67A-2F45-EAD2-ED3E-1FDA7187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9F607-4D82-CC8F-7FE8-F4F8E953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2A91F-8C28-ECB3-127E-CB9B3F36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4269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F8290-3967-42A9-D120-9D3F0AC8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79504A-83CB-FF2B-64F8-3BA4F78D3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D1E8D7-7A8C-FE90-3B79-41C94DC8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3DCCB9-145A-BE41-AC60-3D99A919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D24910-C784-B0BC-D474-A31EA9A5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7382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1442E-BFEE-477D-E77F-5756663EF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18681A-4D79-0252-2BDA-372E3DAE8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C94979-40EC-494A-E71A-BC99E3333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7DC06E-B633-A1F7-3081-655BADA7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C0D050-6F11-E972-D3F8-F511C238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A1AE7E-1165-98D1-9E9D-69646158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1562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87AC9-E618-32C2-63D0-B6FC197A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9CB693-6994-39CA-7C88-C4EA5E4DE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50367A-6220-D031-3DDB-6878D4002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CB9A88-5D96-3C55-2462-10930DA08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760B3C-133E-E87A-CE58-EEE528E06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7BE210-AEAF-EF84-4385-D0E1E47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6C2199-B984-BC19-30D6-1E1105314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65E264-3F97-32C8-1F76-BFCE10E1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5398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5C49D-EF58-88AD-1672-2F5E712C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300A0D-D22E-930B-46BD-3F22A3EE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1E2F5A-F095-14A9-6095-CF2C255E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E935FC-8654-9EAD-1FEF-6B5131924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1703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C4F208-9EA0-4F36-526D-14006BB9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22EFF4-40A4-43B1-6891-BD4D0BE4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3B4215-0802-5F04-A237-DC3EAC6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7898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558BE-FD7B-6646-A2FF-4AB4582C8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450CD4-3090-880D-F871-397F99024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E85CDA-3A4F-8FE8-CB53-D54C1A99C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56633-B8E8-A08B-AE02-9918A826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8AEFA0-1A88-7C92-7A92-7CCD1D28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D53117-22E4-E19E-5012-F4BBBE57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832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EDF57-7824-EEBE-6005-CA22BC59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1054E93-3363-09E8-7C11-D1E61F92F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CFAC1B-8F9A-42AE-35BF-428186B76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4D4ABF-7B70-EF78-F6ED-57A851C7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8D31AD-8F79-F6B1-41B5-D423EBA4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F19525-AE84-BC5D-99C9-C2DA79E4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0916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C9223-F16A-01CE-5097-C2018D55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67DAA1-DE4B-B37B-BF86-32EFC8F00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8709AD-F029-DBDF-D367-6423A6E7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A9F54-95AD-2A7F-86F2-454EFC44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7FE1DD-3D25-170F-EC23-7E56E7F1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547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9808EA-16B9-CCF3-E8CE-EF6743E05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84A4C1-C4CC-02BE-8D28-3507ED3B9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9C4B0A-C9AC-0432-8B3A-A2EC4D7E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B6F73A-C479-5401-BD8F-5C4B973D8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C7B207-C48C-ABF2-B922-59BA273F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5075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6FBD99-9FAB-C3CA-32C6-D12BDAC9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D283A1-3B0F-34C2-B375-BE3F8FC91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A3D1F8-7039-DF02-0300-E3A1A7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44475-5285-4BEB-9BD6-771F56819649}" type="datetimeFigureOut">
              <a:rPr lang="es-419" smtClean="0"/>
              <a:t>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21BBA1-7F93-E525-71D5-0F6B26588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C86061-9AB3-1E6C-2FF4-DB130B56B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9891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chirou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71B19917-3EC8-4EB4-71E2-A16BA64A5606}"/>
              </a:ext>
            </a:extLst>
          </p:cNvPr>
          <p:cNvCxnSpPr/>
          <p:nvPr/>
        </p:nvCxnSpPr>
        <p:spPr>
          <a:xfrm rot="5400000" flipH="1" flipV="1">
            <a:off x="439993" y="5390536"/>
            <a:ext cx="1755058" cy="1179871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610C82C7-AE88-F481-1F80-C58DEEC17384}"/>
              </a:ext>
            </a:extLst>
          </p:cNvPr>
          <p:cNvCxnSpPr>
            <a:cxnSpLocks/>
          </p:cNvCxnSpPr>
          <p:nvPr/>
        </p:nvCxnSpPr>
        <p:spPr>
          <a:xfrm rot="16200000" flipV="1">
            <a:off x="9950247" y="5427407"/>
            <a:ext cx="1755058" cy="1106127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0A1A6F89-71C5-B5E1-D37E-962F84766F06}"/>
              </a:ext>
            </a:extLst>
          </p:cNvPr>
          <p:cNvCxnSpPr/>
          <p:nvPr/>
        </p:nvCxnSpPr>
        <p:spPr>
          <a:xfrm rot="5400000">
            <a:off x="703006" y="24580"/>
            <a:ext cx="639097" cy="589936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697CFD14-6D16-8F98-D91A-5EC188B0FF7E}"/>
              </a:ext>
            </a:extLst>
          </p:cNvPr>
          <p:cNvCxnSpPr/>
          <p:nvPr/>
        </p:nvCxnSpPr>
        <p:spPr>
          <a:xfrm rot="16200000" flipH="1">
            <a:off x="10999840" y="41786"/>
            <a:ext cx="422787" cy="339214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2776912-BA84-DD0C-7C92-96E8FF5AAEEC}"/>
              </a:ext>
            </a:extLst>
          </p:cNvPr>
          <p:cNvCxnSpPr/>
          <p:nvPr/>
        </p:nvCxnSpPr>
        <p:spPr>
          <a:xfrm>
            <a:off x="3067665" y="-1"/>
            <a:ext cx="0" cy="319549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31881C1-FFF9-B8DE-AB21-1ABD11D44565}"/>
              </a:ext>
            </a:extLst>
          </p:cNvPr>
          <p:cNvCxnSpPr/>
          <p:nvPr/>
        </p:nvCxnSpPr>
        <p:spPr>
          <a:xfrm>
            <a:off x="6489290" y="0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5A58B80-B32D-724B-4C8F-603767071A70}"/>
              </a:ext>
            </a:extLst>
          </p:cNvPr>
          <p:cNvCxnSpPr/>
          <p:nvPr/>
        </p:nvCxnSpPr>
        <p:spPr>
          <a:xfrm>
            <a:off x="3849328" y="6435213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F2DB3C6-0B7D-B215-3B60-68D5ACDF6FB3}"/>
              </a:ext>
            </a:extLst>
          </p:cNvPr>
          <p:cNvCxnSpPr/>
          <p:nvPr/>
        </p:nvCxnSpPr>
        <p:spPr>
          <a:xfrm>
            <a:off x="9050594" y="6435212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DC520AF-F33B-B7C2-41E6-3E9AE39E0A07}"/>
              </a:ext>
            </a:extLst>
          </p:cNvPr>
          <p:cNvCxnSpPr/>
          <p:nvPr/>
        </p:nvCxnSpPr>
        <p:spPr>
          <a:xfrm>
            <a:off x="6582696" y="6435211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B3D86F54-F110-414C-54EC-C0A1A3DC6586}"/>
              </a:ext>
            </a:extLst>
          </p:cNvPr>
          <p:cNvCxnSpPr/>
          <p:nvPr/>
        </p:nvCxnSpPr>
        <p:spPr>
          <a:xfrm>
            <a:off x="0" y="3165987"/>
            <a:ext cx="81115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C072146-2E89-8779-BDC5-39DF9C4B7D02}"/>
              </a:ext>
            </a:extLst>
          </p:cNvPr>
          <p:cNvCxnSpPr/>
          <p:nvPr/>
        </p:nvCxnSpPr>
        <p:spPr>
          <a:xfrm flipH="1">
            <a:off x="11464414" y="3271684"/>
            <a:ext cx="7275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6078F099-0C50-4BD0-A8D2-21BF940C8E0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64246" y="358877"/>
            <a:ext cx="1229031" cy="511276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301F73D-49CF-3AB8-64FE-3AAB656C527B}"/>
              </a:ext>
            </a:extLst>
          </p:cNvPr>
          <p:cNvSpPr/>
          <p:nvPr/>
        </p:nvSpPr>
        <p:spPr>
          <a:xfrm>
            <a:off x="3049212" y="2704320"/>
            <a:ext cx="60935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Cardinalida</a:t>
            </a:r>
            <a:r>
              <a:rPr lang="es-ES" sz="5400" b="1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s-ES" sz="540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en ER</a:t>
            </a:r>
            <a:endParaRPr lang="es-E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F49AC55-C50E-BE04-D1AF-10F953F78859}"/>
              </a:ext>
            </a:extLst>
          </p:cNvPr>
          <p:cNvSpPr/>
          <p:nvPr/>
        </p:nvSpPr>
        <p:spPr>
          <a:xfrm>
            <a:off x="3192990" y="3436374"/>
            <a:ext cx="580602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Kevin García.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7F53524-D8E7-96CC-EB73-E922A826C405}"/>
              </a:ext>
            </a:extLst>
          </p:cNvPr>
          <p:cNvSpPr/>
          <p:nvPr/>
        </p:nvSpPr>
        <p:spPr>
          <a:xfrm>
            <a:off x="589934" y="776744"/>
            <a:ext cx="275303" cy="23596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6D6B3A9-BE24-8E72-DE2B-96CA14EBAF5A}"/>
              </a:ext>
            </a:extLst>
          </p:cNvPr>
          <p:cNvSpPr/>
          <p:nvPr/>
        </p:nvSpPr>
        <p:spPr>
          <a:xfrm>
            <a:off x="8431161" y="1346774"/>
            <a:ext cx="206478" cy="1799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33C3C23-8C06-B2CB-FD48-FC45BA2F521C}"/>
              </a:ext>
            </a:extLst>
          </p:cNvPr>
          <p:cNvSpPr/>
          <p:nvPr/>
        </p:nvSpPr>
        <p:spPr>
          <a:xfrm>
            <a:off x="11315700" y="471949"/>
            <a:ext cx="130279" cy="14256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AA1BC8C-C8B7-CDBE-73B2-9ECAEBA6241B}"/>
              </a:ext>
            </a:extLst>
          </p:cNvPr>
          <p:cNvSpPr/>
          <p:nvPr/>
        </p:nvSpPr>
        <p:spPr>
          <a:xfrm>
            <a:off x="10209572" y="4817582"/>
            <a:ext cx="130279" cy="142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ECE81E9-616A-169B-B4DC-A105F4FDE604}"/>
              </a:ext>
            </a:extLst>
          </p:cNvPr>
          <p:cNvSpPr/>
          <p:nvPr/>
        </p:nvSpPr>
        <p:spPr>
          <a:xfrm>
            <a:off x="3784188" y="6110749"/>
            <a:ext cx="130279" cy="1425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CFF1EAD-CD3D-63A9-A693-46FE012F403D}"/>
              </a:ext>
            </a:extLst>
          </p:cNvPr>
          <p:cNvSpPr/>
          <p:nvPr/>
        </p:nvSpPr>
        <p:spPr>
          <a:xfrm>
            <a:off x="2917688" y="521113"/>
            <a:ext cx="275302" cy="2359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4F388B0-518F-B837-8C1F-CFD2F8AED354}"/>
              </a:ext>
            </a:extLst>
          </p:cNvPr>
          <p:cNvSpPr/>
          <p:nvPr/>
        </p:nvSpPr>
        <p:spPr>
          <a:xfrm>
            <a:off x="1776564" y="4758027"/>
            <a:ext cx="261787" cy="2805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80BD0D0-028B-B0D6-7022-8084E509011C}"/>
              </a:ext>
            </a:extLst>
          </p:cNvPr>
          <p:cNvSpPr/>
          <p:nvPr/>
        </p:nvSpPr>
        <p:spPr>
          <a:xfrm>
            <a:off x="6489290" y="5456906"/>
            <a:ext cx="275302" cy="2359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FBA8AFC-AC17-6186-A573-F588C9E8FE6A}"/>
              </a:ext>
            </a:extLst>
          </p:cNvPr>
          <p:cNvSpPr/>
          <p:nvPr/>
        </p:nvSpPr>
        <p:spPr>
          <a:xfrm>
            <a:off x="2711210" y="2049778"/>
            <a:ext cx="206478" cy="1799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2BED302-9492-D1AD-8DDF-D120C4B20D42}"/>
              </a:ext>
            </a:extLst>
          </p:cNvPr>
          <p:cNvSpPr/>
          <p:nvPr/>
        </p:nvSpPr>
        <p:spPr>
          <a:xfrm>
            <a:off x="6424150" y="651390"/>
            <a:ext cx="130279" cy="142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8863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3BD58-FD06-E657-7800-DCF533F5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21C1625-AD3C-55D4-E2DB-650DCD93E488}"/>
              </a:ext>
            </a:extLst>
          </p:cNvPr>
          <p:cNvSpPr/>
          <p:nvPr/>
        </p:nvSpPr>
        <p:spPr>
          <a:xfrm>
            <a:off x="11395587" y="216310"/>
            <a:ext cx="226142" cy="21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BFBDFB-0918-93A3-5310-F28F24DC016F}"/>
              </a:ext>
            </a:extLst>
          </p:cNvPr>
          <p:cNvSpPr/>
          <p:nvPr/>
        </p:nvSpPr>
        <p:spPr>
          <a:xfrm>
            <a:off x="10613923" y="703006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612709-FCB6-DAFE-454F-9EC1194E8B92}"/>
              </a:ext>
            </a:extLst>
          </p:cNvPr>
          <p:cNvSpPr/>
          <p:nvPr/>
        </p:nvSpPr>
        <p:spPr>
          <a:xfrm>
            <a:off x="11395587" y="1425677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B100B1-7678-AEF5-92B2-50D164658274}"/>
              </a:ext>
            </a:extLst>
          </p:cNvPr>
          <p:cNvSpPr/>
          <p:nvPr/>
        </p:nvSpPr>
        <p:spPr>
          <a:xfrm>
            <a:off x="11282516" y="71283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6760F9-6601-6617-3515-2915C7CE3562}"/>
              </a:ext>
            </a:extLst>
          </p:cNvPr>
          <p:cNvSpPr/>
          <p:nvPr/>
        </p:nvSpPr>
        <p:spPr>
          <a:xfrm>
            <a:off x="683342" y="325963"/>
            <a:ext cx="847200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¿Qué es la </a:t>
            </a:r>
            <a:r>
              <a:rPr lang="es-ES" sz="48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cardinalidad</a:t>
            </a:r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F00E43-CF8A-E284-1055-AE2C4A875204}"/>
              </a:ext>
            </a:extLst>
          </p:cNvPr>
          <p:cNvSpPr/>
          <p:nvPr/>
        </p:nvSpPr>
        <p:spPr>
          <a:xfrm>
            <a:off x="113712" y="5840361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4E6696-574C-FB73-8071-C48F69939645}"/>
              </a:ext>
            </a:extLst>
          </p:cNvPr>
          <p:cNvSpPr/>
          <p:nvPr/>
        </p:nvSpPr>
        <p:spPr>
          <a:xfrm>
            <a:off x="113712" y="6474542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289C2F-6232-75D3-C08E-F340D1B2F15F}"/>
              </a:ext>
            </a:extLst>
          </p:cNvPr>
          <p:cNvSpPr/>
          <p:nvPr/>
        </p:nvSpPr>
        <p:spPr>
          <a:xfrm>
            <a:off x="477505" y="613532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C0CF543-F1F6-AC36-D72A-404D8B8803F5}"/>
              </a:ext>
            </a:extLst>
          </p:cNvPr>
          <p:cNvSpPr/>
          <p:nvPr/>
        </p:nvSpPr>
        <p:spPr>
          <a:xfrm>
            <a:off x="590576" y="1789111"/>
            <a:ext cx="2782941" cy="47705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Definición técnica:</a:t>
            </a:r>
            <a:endParaRPr lang="es-419" sz="2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DEFDDCC-1B32-5A5B-2CA3-4B4762C90152}"/>
              </a:ext>
            </a:extLst>
          </p:cNvPr>
          <p:cNvSpPr/>
          <p:nvPr/>
        </p:nvSpPr>
        <p:spPr>
          <a:xfrm>
            <a:off x="683342" y="2235388"/>
            <a:ext cx="761528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>
                <a:solidFill>
                  <a:srgbClr val="FBFAF8"/>
                </a:solidFill>
              </a:rPr>
              <a:t>Es el tipo de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relación numérica </a:t>
            </a:r>
            <a:r>
              <a:rPr lang="es-MX" sz="2000" dirty="0">
                <a:solidFill>
                  <a:srgbClr val="FBFAF8"/>
                </a:solidFill>
              </a:rPr>
              <a:t>entre dos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entidades</a:t>
            </a:r>
            <a:r>
              <a:rPr lang="es-MX" sz="2000" dirty="0">
                <a:solidFill>
                  <a:srgbClr val="FBFAF8"/>
                </a:solidFill>
              </a:rPr>
              <a:t>, es decir, cuántas veces una entidad puede asociarse con otra.</a:t>
            </a:r>
            <a:endParaRPr lang="es-ES" sz="2000" b="0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540A0A5-486B-8563-E722-3B7B25B8AD13}"/>
              </a:ext>
            </a:extLst>
          </p:cNvPr>
          <p:cNvSpPr/>
          <p:nvPr/>
        </p:nvSpPr>
        <p:spPr>
          <a:xfrm>
            <a:off x="683342" y="3049198"/>
            <a:ext cx="633367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>
                <a:solidFill>
                  <a:srgbClr val="FBFAF8"/>
                </a:solidFill>
              </a:rPr>
              <a:t>La cardinalidad ayuda a especificar las reglas de negocio sobre cómo los datos interactúan en la base de datos</a:t>
            </a:r>
            <a:endParaRPr lang="es-ES" sz="20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E4CC3A5-369D-472F-1C34-9F9C90ACD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48" y="3049198"/>
            <a:ext cx="3302439" cy="330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5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741D1-5772-BBF5-06C5-DDCFA7EC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B2ACB7D-3DAF-1589-2ED9-47A13B05D158}"/>
              </a:ext>
            </a:extLst>
          </p:cNvPr>
          <p:cNvSpPr/>
          <p:nvPr/>
        </p:nvSpPr>
        <p:spPr>
          <a:xfrm>
            <a:off x="11395587" y="216310"/>
            <a:ext cx="226142" cy="21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EF8D34-9BAC-42E6-6D22-81DA1C041996}"/>
              </a:ext>
            </a:extLst>
          </p:cNvPr>
          <p:cNvSpPr/>
          <p:nvPr/>
        </p:nvSpPr>
        <p:spPr>
          <a:xfrm>
            <a:off x="10984495" y="808700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61ABB7-3433-6172-8573-9C3A6AAB32D2}"/>
              </a:ext>
            </a:extLst>
          </p:cNvPr>
          <p:cNvSpPr/>
          <p:nvPr/>
        </p:nvSpPr>
        <p:spPr>
          <a:xfrm>
            <a:off x="11626004" y="592391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0965D3-93DA-D215-8975-FC59640E8181}"/>
              </a:ext>
            </a:extLst>
          </p:cNvPr>
          <p:cNvSpPr/>
          <p:nvPr/>
        </p:nvSpPr>
        <p:spPr>
          <a:xfrm>
            <a:off x="11852146" y="1334813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4F192C-1283-BB8A-109B-184D4E21B1B6}"/>
              </a:ext>
            </a:extLst>
          </p:cNvPr>
          <p:cNvSpPr/>
          <p:nvPr/>
        </p:nvSpPr>
        <p:spPr>
          <a:xfrm>
            <a:off x="477505" y="288805"/>
            <a:ext cx="1009162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Principales conceptos claves de la cardinalidad.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ED3F3EC-4442-87E8-E4AA-F614CA2DC119}"/>
              </a:ext>
            </a:extLst>
          </p:cNvPr>
          <p:cNvSpPr/>
          <p:nvPr/>
        </p:nvSpPr>
        <p:spPr>
          <a:xfrm>
            <a:off x="113712" y="5840361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5E3F7C9-26EF-1F4D-D01D-306C0E14B5AF}"/>
              </a:ext>
            </a:extLst>
          </p:cNvPr>
          <p:cNvSpPr/>
          <p:nvPr/>
        </p:nvSpPr>
        <p:spPr>
          <a:xfrm>
            <a:off x="113712" y="6474542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E9E3A9A-1868-DEF6-4CC7-CDBA17F4E4CC}"/>
              </a:ext>
            </a:extLst>
          </p:cNvPr>
          <p:cNvSpPr/>
          <p:nvPr/>
        </p:nvSpPr>
        <p:spPr>
          <a:xfrm>
            <a:off x="477505" y="613532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4F8542D-F87B-1969-9737-2758212F976D}"/>
              </a:ext>
            </a:extLst>
          </p:cNvPr>
          <p:cNvSpPr/>
          <p:nvPr/>
        </p:nvSpPr>
        <p:spPr>
          <a:xfrm>
            <a:off x="590576" y="2054709"/>
            <a:ext cx="849443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Uno a uno (1:1): </a:t>
            </a:r>
            <a:r>
              <a:rPr lang="es-MX" sz="2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Cada registro de una entidad se asocia con un único registro de otra entidad y viceversa. Por ejemplo, cada persona puede tener un solo pasaporte, y cada pasaporte pertenece a una sola persona.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Uno a muchos (1): </a:t>
            </a:r>
            <a:r>
              <a:rPr lang="es-MX" sz="2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 registro de una entidad puede asociarse con múltiples registros de otra entidad. Por ejemplo, un autor puede escribir varios libros, pero cada libro tiene un único autor.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Muchos a muchos (M): </a:t>
            </a:r>
            <a:r>
              <a:rPr lang="es-MX" sz="2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Varios registros de una entidad pueden estar asociados con varios registros de otra entidad. Por ejemplo, un estudiante puede inscribirse en varios cursos, y cada curso puede tener múltiples estudiantes.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2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0FD48-484F-3AAF-E110-544840C57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F7F4250-2B35-F1AE-E524-E9B2601CA22D}"/>
              </a:ext>
            </a:extLst>
          </p:cNvPr>
          <p:cNvSpPr/>
          <p:nvPr/>
        </p:nvSpPr>
        <p:spPr>
          <a:xfrm>
            <a:off x="11395587" y="216310"/>
            <a:ext cx="226142" cy="21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BA03EFD-DA5F-1647-00D9-887C7C0BF58A}"/>
              </a:ext>
            </a:extLst>
          </p:cNvPr>
          <p:cNvSpPr/>
          <p:nvPr/>
        </p:nvSpPr>
        <p:spPr>
          <a:xfrm>
            <a:off x="10984495" y="808700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27AFCF8-9130-8FCD-9825-04655368916D}"/>
              </a:ext>
            </a:extLst>
          </p:cNvPr>
          <p:cNvSpPr/>
          <p:nvPr/>
        </p:nvSpPr>
        <p:spPr>
          <a:xfrm>
            <a:off x="11626004" y="592391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58162C-75B8-6349-5066-1C2D17B587F8}"/>
              </a:ext>
            </a:extLst>
          </p:cNvPr>
          <p:cNvSpPr/>
          <p:nvPr/>
        </p:nvSpPr>
        <p:spPr>
          <a:xfrm>
            <a:off x="11852146" y="1334813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B6A9B2-ED2A-D24A-CD7F-6764DED6168B}"/>
              </a:ext>
            </a:extLst>
          </p:cNvPr>
          <p:cNvSpPr/>
          <p:nvPr/>
        </p:nvSpPr>
        <p:spPr>
          <a:xfrm>
            <a:off x="477505" y="288805"/>
            <a:ext cx="1009162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Uniones representativas.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71FD9C4-FD30-EB19-07C6-49A93F2F3373}"/>
              </a:ext>
            </a:extLst>
          </p:cNvPr>
          <p:cNvSpPr/>
          <p:nvPr/>
        </p:nvSpPr>
        <p:spPr>
          <a:xfrm>
            <a:off x="113712" y="5840361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BEC4BEE-0120-B0E0-D30E-4C4EA5B4CB32}"/>
              </a:ext>
            </a:extLst>
          </p:cNvPr>
          <p:cNvSpPr/>
          <p:nvPr/>
        </p:nvSpPr>
        <p:spPr>
          <a:xfrm>
            <a:off x="113712" y="6474542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FD83A10-D12C-CEDF-5EB5-6B01CA806516}"/>
              </a:ext>
            </a:extLst>
          </p:cNvPr>
          <p:cNvSpPr/>
          <p:nvPr/>
        </p:nvSpPr>
        <p:spPr>
          <a:xfrm>
            <a:off x="477505" y="613532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9822AD2-0CA8-AA75-6F93-A2EE42457102}"/>
              </a:ext>
            </a:extLst>
          </p:cNvPr>
          <p:cNvSpPr/>
          <p:nvPr/>
        </p:nvSpPr>
        <p:spPr>
          <a:xfrm>
            <a:off x="703647" y="1334813"/>
            <a:ext cx="5097385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Uno a uno (1:1).</a:t>
            </a:r>
          </a:p>
          <a:p>
            <a:endParaRPr lang="es-MX" sz="20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s-MX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Uno a muchos (1).</a:t>
            </a:r>
          </a:p>
          <a:p>
            <a:endParaRPr lang="es-MX" sz="20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s-MX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Muchos a muchos (M).</a:t>
            </a:r>
          </a:p>
          <a:p>
            <a:endParaRPr lang="es-MX" sz="20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Uno a solo uno.</a:t>
            </a:r>
          </a:p>
          <a:p>
            <a:endParaRPr lang="es-ES" sz="2000" b="1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Cero o uno.</a:t>
            </a:r>
          </a:p>
          <a:p>
            <a:endParaRPr lang="es-ES" sz="2000" b="1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6C7B18B-E705-E241-393D-33685A2BDFC6}"/>
              </a:ext>
            </a:extLst>
          </p:cNvPr>
          <p:cNvGrpSpPr/>
          <p:nvPr/>
        </p:nvGrpSpPr>
        <p:grpSpPr>
          <a:xfrm>
            <a:off x="913578" y="3559987"/>
            <a:ext cx="4159593" cy="457315"/>
            <a:chOff x="6311762" y="2438400"/>
            <a:chExt cx="4159593" cy="457315"/>
          </a:xfrm>
        </p:grpSpPr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78CC3C6-B016-C1A3-4C27-6C253B45B2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1762" y="2684206"/>
              <a:ext cx="4159593" cy="9832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A94CB516-86FB-DE18-C208-CF79DE129103}"/>
                </a:ext>
              </a:extLst>
            </p:cNvPr>
            <p:cNvCxnSpPr/>
            <p:nvPr/>
          </p:nvCxnSpPr>
          <p:spPr>
            <a:xfrm flipV="1">
              <a:off x="10166556" y="2438400"/>
              <a:ext cx="186264" cy="24580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2E978F8A-D1D7-11A7-88B6-80955262AB22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556" y="2694038"/>
              <a:ext cx="186264" cy="201677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B6FBCF64-9BEE-F052-CA1C-53FDDBCB1A00}"/>
              </a:ext>
            </a:extLst>
          </p:cNvPr>
          <p:cNvGrpSpPr/>
          <p:nvPr/>
        </p:nvGrpSpPr>
        <p:grpSpPr>
          <a:xfrm>
            <a:off x="944041" y="2657080"/>
            <a:ext cx="4159593" cy="457315"/>
            <a:chOff x="6746792" y="2618049"/>
            <a:chExt cx="4159593" cy="457315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ACF8EC95-B3EB-60E0-2758-C67307E32623}"/>
                </a:ext>
              </a:extLst>
            </p:cNvPr>
            <p:cNvGrpSpPr/>
            <p:nvPr/>
          </p:nvGrpSpPr>
          <p:grpSpPr>
            <a:xfrm>
              <a:off x="6746792" y="2618049"/>
              <a:ext cx="4159593" cy="457315"/>
              <a:chOff x="6311762" y="2438400"/>
              <a:chExt cx="4159593" cy="457315"/>
            </a:xfrm>
          </p:grpSpPr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D6805D7A-D899-0B42-6DD3-F5AC1C8D20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11762" y="2684206"/>
                <a:ext cx="4159593" cy="9832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70D88F37-9483-F8FC-B630-94F5D3EC4329}"/>
                  </a:ext>
                </a:extLst>
              </p:cNvPr>
              <p:cNvCxnSpPr/>
              <p:nvPr/>
            </p:nvCxnSpPr>
            <p:spPr>
              <a:xfrm flipV="1">
                <a:off x="10166556" y="2438400"/>
                <a:ext cx="186264" cy="245806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>
                <a:extLst>
                  <a:ext uri="{FF2B5EF4-FFF2-40B4-BE49-F238E27FC236}">
                    <a16:creationId xmlns:a16="http://schemas.microsoft.com/office/drawing/2014/main" id="{CCB1F555-12A2-102F-6984-939AA1137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6556" y="2694038"/>
                <a:ext cx="186264" cy="201677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AB698BED-016F-271D-EAFB-66ABA03C2EF0}"/>
                </a:ext>
              </a:extLst>
            </p:cNvPr>
            <p:cNvCxnSpPr/>
            <p:nvPr/>
          </p:nvCxnSpPr>
          <p:spPr>
            <a:xfrm>
              <a:off x="10569128" y="2632797"/>
              <a:ext cx="0" cy="422787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0485C0CA-B034-3189-DDD5-EC0E41A00261}"/>
              </a:ext>
            </a:extLst>
          </p:cNvPr>
          <p:cNvGrpSpPr/>
          <p:nvPr/>
        </p:nvGrpSpPr>
        <p:grpSpPr>
          <a:xfrm>
            <a:off x="913578" y="4427270"/>
            <a:ext cx="4041058" cy="570271"/>
            <a:chOff x="972846" y="4454013"/>
            <a:chExt cx="4041058" cy="570271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1E7FC00-8D13-30CA-9A1E-3B5C6324E7C7}"/>
                </a:ext>
              </a:extLst>
            </p:cNvPr>
            <p:cNvCxnSpPr/>
            <p:nvPr/>
          </p:nvCxnSpPr>
          <p:spPr>
            <a:xfrm>
              <a:off x="972846" y="4739148"/>
              <a:ext cx="4041058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B52BFEAB-7823-B7ED-D3D6-6A9AF228CB90}"/>
                </a:ext>
              </a:extLst>
            </p:cNvPr>
            <p:cNvCxnSpPr>
              <a:cxnSpLocks/>
            </p:cNvCxnSpPr>
            <p:nvPr/>
          </p:nvCxnSpPr>
          <p:spPr>
            <a:xfrm>
              <a:off x="4650658" y="4454013"/>
              <a:ext cx="0" cy="57027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6B054A2-500E-1F33-E612-01BAE780BC27}"/>
                </a:ext>
              </a:extLst>
            </p:cNvPr>
            <p:cNvCxnSpPr>
              <a:cxnSpLocks/>
            </p:cNvCxnSpPr>
            <p:nvPr/>
          </p:nvCxnSpPr>
          <p:spPr>
            <a:xfrm>
              <a:off x="4831460" y="4454013"/>
              <a:ext cx="0" cy="57027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22BF8514-348F-69E9-649D-2D1256C14078}"/>
              </a:ext>
            </a:extLst>
          </p:cNvPr>
          <p:cNvGrpSpPr/>
          <p:nvPr/>
        </p:nvGrpSpPr>
        <p:grpSpPr>
          <a:xfrm>
            <a:off x="944041" y="1932601"/>
            <a:ext cx="4041058" cy="423020"/>
            <a:chOff x="6528070" y="2030245"/>
            <a:chExt cx="4041058" cy="423020"/>
          </a:xfrm>
        </p:grpSpPr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9B68C14E-8245-DC0D-2175-174A0A59A2A8}"/>
                </a:ext>
              </a:extLst>
            </p:cNvPr>
            <p:cNvCxnSpPr>
              <a:cxnSpLocks/>
            </p:cNvCxnSpPr>
            <p:nvPr/>
          </p:nvCxnSpPr>
          <p:spPr>
            <a:xfrm>
              <a:off x="6528070" y="2241755"/>
              <a:ext cx="4041058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9B165A22-29D4-B026-4BD1-4D71DB401A94}"/>
                </a:ext>
              </a:extLst>
            </p:cNvPr>
            <p:cNvCxnSpPr/>
            <p:nvPr/>
          </p:nvCxnSpPr>
          <p:spPr>
            <a:xfrm>
              <a:off x="10382864" y="2030245"/>
              <a:ext cx="0" cy="42302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89099691-63A6-10B5-C6D9-2EEA3B385B11}"/>
              </a:ext>
            </a:extLst>
          </p:cNvPr>
          <p:cNvGrpSpPr/>
          <p:nvPr/>
        </p:nvGrpSpPr>
        <p:grpSpPr>
          <a:xfrm>
            <a:off x="913578" y="5394151"/>
            <a:ext cx="4041058" cy="436373"/>
            <a:chOff x="981856" y="5403988"/>
            <a:chExt cx="4041058" cy="436373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7F11E905-4CAB-87C6-8A96-DCC626E87587}"/>
                </a:ext>
              </a:extLst>
            </p:cNvPr>
            <p:cNvGrpSpPr/>
            <p:nvPr/>
          </p:nvGrpSpPr>
          <p:grpSpPr>
            <a:xfrm>
              <a:off x="981856" y="5417341"/>
              <a:ext cx="4041058" cy="423020"/>
              <a:chOff x="6528070" y="2030245"/>
              <a:chExt cx="4041058" cy="423020"/>
            </a:xfrm>
          </p:grpSpPr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241C85D5-0450-4450-DC76-75E88FB500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8070" y="2241755"/>
                <a:ext cx="4041058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AF2C262F-DC75-5C10-A200-A68AEDCEC33A}"/>
                  </a:ext>
                </a:extLst>
              </p:cNvPr>
              <p:cNvCxnSpPr/>
              <p:nvPr/>
            </p:nvCxnSpPr>
            <p:spPr>
              <a:xfrm>
                <a:off x="10382864" y="2030245"/>
                <a:ext cx="0" cy="42302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67F10EBC-412E-517D-2F20-3DE70D92CD59}"/>
                </a:ext>
              </a:extLst>
            </p:cNvPr>
            <p:cNvSpPr/>
            <p:nvPr/>
          </p:nvSpPr>
          <p:spPr>
            <a:xfrm>
              <a:off x="4377142" y="5403988"/>
              <a:ext cx="320404" cy="422787"/>
            </a:xfrm>
            <a:prstGeom prst="ellipse">
              <a:avLst/>
            </a:prstGeom>
            <a:solidFill>
              <a:srgbClr val="FBFAF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dirty="0"/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13B293C-C2FB-DF65-7C71-C30CC293F76A}"/>
              </a:ext>
            </a:extLst>
          </p:cNvPr>
          <p:cNvSpPr txBox="1"/>
          <p:nvPr/>
        </p:nvSpPr>
        <p:spPr>
          <a:xfrm>
            <a:off x="6272979" y="1351067"/>
            <a:ext cx="4603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Cero a muchos.</a:t>
            </a:r>
            <a:endParaRPr lang="es-ES" sz="20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1BA79632-8291-2547-C4E1-7CAC2AED6B75}"/>
              </a:ext>
            </a:extLst>
          </p:cNvPr>
          <p:cNvGrpSpPr/>
          <p:nvPr/>
        </p:nvGrpSpPr>
        <p:grpSpPr>
          <a:xfrm>
            <a:off x="6221537" y="1895904"/>
            <a:ext cx="4159593" cy="457315"/>
            <a:chOff x="6311762" y="2438400"/>
            <a:chExt cx="4159593" cy="457315"/>
          </a:xfrm>
        </p:grpSpPr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17C938C-DA9A-584D-D742-BE1AAA5633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1762" y="2684206"/>
              <a:ext cx="4159593" cy="9832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83484B47-D2C5-55D5-A1C2-EBB24F199B98}"/>
                </a:ext>
              </a:extLst>
            </p:cNvPr>
            <p:cNvCxnSpPr/>
            <p:nvPr/>
          </p:nvCxnSpPr>
          <p:spPr>
            <a:xfrm flipV="1">
              <a:off x="10166556" y="2438400"/>
              <a:ext cx="186264" cy="24580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D56A9452-1D5B-2170-1BE7-AEEA18344A8F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556" y="2694038"/>
              <a:ext cx="186264" cy="201677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Elipse 61">
            <a:extLst>
              <a:ext uri="{FF2B5EF4-FFF2-40B4-BE49-F238E27FC236}">
                <a16:creationId xmlns:a16="http://schemas.microsoft.com/office/drawing/2014/main" id="{29C77060-CE8B-508B-6B7D-1C163718D894}"/>
              </a:ext>
            </a:extLst>
          </p:cNvPr>
          <p:cNvSpPr/>
          <p:nvPr/>
        </p:nvSpPr>
        <p:spPr>
          <a:xfrm>
            <a:off x="9713436" y="1919077"/>
            <a:ext cx="320404" cy="422787"/>
          </a:xfrm>
          <a:prstGeom prst="ellipse">
            <a:avLst/>
          </a:prstGeom>
          <a:solidFill>
            <a:srgbClr val="FBFA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397281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4535F-2F8D-EAC9-3A12-87455CCF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643AD8-8A14-3758-16C2-41986CA3A087}"/>
              </a:ext>
            </a:extLst>
          </p:cNvPr>
          <p:cNvSpPr/>
          <p:nvPr/>
        </p:nvSpPr>
        <p:spPr>
          <a:xfrm>
            <a:off x="11395587" y="216310"/>
            <a:ext cx="226142" cy="21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01714F-F1C5-468D-E9DF-E380EA7CB519}"/>
              </a:ext>
            </a:extLst>
          </p:cNvPr>
          <p:cNvSpPr/>
          <p:nvPr/>
        </p:nvSpPr>
        <p:spPr>
          <a:xfrm>
            <a:off x="10984495" y="808700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810BD9-4918-9957-C5AC-F553928A9DF9}"/>
              </a:ext>
            </a:extLst>
          </p:cNvPr>
          <p:cNvSpPr/>
          <p:nvPr/>
        </p:nvSpPr>
        <p:spPr>
          <a:xfrm>
            <a:off x="11626004" y="592391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4F0A53-ADC1-1A57-FD5B-0B4DCC4D798C}"/>
              </a:ext>
            </a:extLst>
          </p:cNvPr>
          <p:cNvSpPr/>
          <p:nvPr/>
        </p:nvSpPr>
        <p:spPr>
          <a:xfrm>
            <a:off x="11852146" y="1334813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072A53-EFE7-D48D-AE1F-4BE9C17053D6}"/>
              </a:ext>
            </a:extLst>
          </p:cNvPr>
          <p:cNvSpPr/>
          <p:nvPr/>
        </p:nvSpPr>
        <p:spPr>
          <a:xfrm>
            <a:off x="113712" y="5840361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F8C5D5-CB83-6DE6-427D-977A4243AD68}"/>
              </a:ext>
            </a:extLst>
          </p:cNvPr>
          <p:cNvSpPr/>
          <p:nvPr/>
        </p:nvSpPr>
        <p:spPr>
          <a:xfrm>
            <a:off x="113712" y="6474542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B422061-E014-2CCC-8355-FD4B9A2DF47D}"/>
              </a:ext>
            </a:extLst>
          </p:cNvPr>
          <p:cNvSpPr/>
          <p:nvPr/>
        </p:nvSpPr>
        <p:spPr>
          <a:xfrm>
            <a:off x="477505" y="613532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EA5806B0-DB35-C5F8-0E2A-F0B204C083F0}"/>
              </a:ext>
            </a:extLst>
          </p:cNvPr>
          <p:cNvSpPr/>
          <p:nvPr/>
        </p:nvSpPr>
        <p:spPr>
          <a:xfrm>
            <a:off x="4324167" y="5128507"/>
            <a:ext cx="510946" cy="538558"/>
          </a:xfrm>
          <a:custGeom>
            <a:avLst/>
            <a:gdLst/>
            <a:ahLst/>
            <a:cxnLst/>
            <a:rect l="l" t="t" r="r" b="b"/>
            <a:pathLst>
              <a:path w="895237" h="895237">
                <a:moveTo>
                  <a:pt x="0" y="0"/>
                </a:moveTo>
                <a:lnTo>
                  <a:pt x="895236" y="0"/>
                </a:lnTo>
                <a:lnTo>
                  <a:pt x="895236" y="895237"/>
                </a:lnTo>
                <a:lnTo>
                  <a:pt x="0" y="89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B12451-5973-D0CD-1EBE-7727762FEE38}"/>
              </a:ext>
            </a:extLst>
          </p:cNvPr>
          <p:cNvSpPr/>
          <p:nvPr/>
        </p:nvSpPr>
        <p:spPr>
          <a:xfrm>
            <a:off x="2256209" y="2474231"/>
            <a:ext cx="767958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¡MUCHAS GRACIAS!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87CC6FE-C658-59A6-EA3C-574CD6606D8A}"/>
              </a:ext>
            </a:extLst>
          </p:cNvPr>
          <p:cNvSpPr/>
          <p:nvPr/>
        </p:nvSpPr>
        <p:spPr>
          <a:xfrm>
            <a:off x="4416097" y="4671561"/>
            <a:ext cx="32475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¡Visita nuestro sitio!</a:t>
            </a:r>
            <a:endParaRPr lang="es-ES" sz="2800" b="0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BE24307-B427-E972-2EE9-85E230DE68E3}"/>
              </a:ext>
            </a:extLst>
          </p:cNvPr>
          <p:cNvSpPr/>
          <p:nvPr/>
        </p:nvSpPr>
        <p:spPr>
          <a:xfrm>
            <a:off x="4743183" y="4933171"/>
            <a:ext cx="2848857" cy="6676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302"/>
              </a:lnSpc>
            </a:pPr>
            <a:r>
              <a:rPr lang="en-US" sz="2400" u="sng" dirty="0">
                <a:solidFill>
                  <a:srgbClr val="FBFAF8"/>
                </a:solidFill>
                <a:latin typeface="Lato"/>
                <a:ea typeface="Lato"/>
                <a:cs typeface="Lato"/>
                <a:sym typeface="Lato"/>
                <a:hlinkClick r:id="rId4" tooltip="https://achirou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https://achirou.com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B59C2E-CE8D-4386-DDEC-ACCF1C2C6CB3}"/>
              </a:ext>
            </a:extLst>
          </p:cNvPr>
          <p:cNvSpPr/>
          <p:nvPr/>
        </p:nvSpPr>
        <p:spPr>
          <a:xfrm>
            <a:off x="2796346" y="3324808"/>
            <a:ext cx="65993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¡Nos vemos en la próxima clase!</a:t>
            </a:r>
          </a:p>
        </p:txBody>
      </p:sp>
    </p:spTree>
    <p:extLst>
      <p:ext uri="{BB962C8B-B14F-4D97-AF65-F5344CB8AC3E}">
        <p14:creationId xmlns:p14="http://schemas.microsoft.com/office/powerpoint/2010/main" val="184320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Entidad relación</Template>
  <TotalTime>36</TotalTime>
  <Words>242</Words>
  <Application>Microsoft Office PowerPoint</Application>
  <PresentationFormat>Panorámica</PresentationFormat>
  <Paragraphs>33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lopez</dc:creator>
  <cp:lastModifiedBy>kevin lopez</cp:lastModifiedBy>
  <cp:revision>1</cp:revision>
  <dcterms:created xsi:type="dcterms:W3CDTF">2024-11-07T03:42:44Z</dcterms:created>
  <dcterms:modified xsi:type="dcterms:W3CDTF">2024-11-07T04:19:05Z</dcterms:modified>
</cp:coreProperties>
</file>